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E8C76A"/>
                </a:solidFill>
                <a:latin typeface="Calibri"/>
              </a:rPr>
              <a:t>IT23502  ·  WEB PROGRAMMING  ·  MINI-PROJECT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Georgia"/>
              </a:rPr>
              <a:t>Scholaris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0">
                <a:solidFill>
                  <a:srgbClr val="C9A227"/>
                </a:solidFill>
                <a:latin typeface="Georgia"/>
              </a:rPr>
              <a:t>Student Record and Grading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383280"/>
            <a:ext cx="219456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A Spring Boot MVC application with a documented REST API and an independent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Calibri"/>
              </a:rPr>
              <a:t>grading microservice on port 8081.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6858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0F2742"/>
                </a:solidFill>
                <a:latin typeface="Calibri"/>
              </a:rPr>
              <a:t>Submitted by: </a:t>
            </a:r>
            <a:r>
              <a:rPr sz="1400" b="0">
                <a:solidFill>
                  <a:srgbClr val="1F2937"/>
                </a:solidFill>
                <a:latin typeface="Calibri"/>
              </a:rPr>
              <a:t>Senthil Raja 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0">
                <a:solidFill>
                  <a:srgbClr val="5B6574"/>
                </a:solidFill>
                <a:latin typeface="Calibri"/>
              </a:rPr>
              <a:t>Register number: ______________________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5B6574"/>
                </a:solidFill>
                <a:latin typeface="Calibri"/>
              </a:rPr>
              <a:t>Academic year 2026-27  ·  Batch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806440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163B56"/>
                </a:solidFill>
                <a:latin typeface="Calibri"/>
              </a:rPr>
              <a:t>github.com/Senthil455/</a:t>
            </a:r>
          </a:p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163B56"/>
                </a:solidFill>
                <a:latin typeface="Calibri"/>
              </a:rPr>
              <a:t>Student-Record-Grading-System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Problem statement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Why this project, and what it must demonstrate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5577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Manual records. </a:t>
            </a:r>
            <a:r>
              <a:rPr sz="1500" b="0">
                <a:solidFill>
                  <a:srgbClr val="1F2937"/>
                </a:solidFill>
                <a:latin typeface="Calibri"/>
              </a:rPr>
              <a:t>Student data lives in separate spreadsheets with duplicates and no referential integrity.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Manual grading. </a:t>
            </a:r>
            <a:r>
              <a:rPr sz="1500" b="0">
                <a:solidFill>
                  <a:srgbClr val="1F2937"/>
                </a:solidFill>
                <a:latin typeface="Calibri"/>
              </a:rPr>
              <a:t>Letter grades and credit-weighted GPAs are recalculated by hand and differ between faculty.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Slow reporting. </a:t>
            </a:r>
            <a:r>
              <a:rPr sz="1500" b="0">
                <a:solidFill>
                  <a:srgbClr val="1F2937"/>
                </a:solidFill>
                <a:latin typeface="Calibri"/>
              </a:rPr>
              <a:t>Top performers and course averages must be rebuilt from files for every review.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No interface. </a:t>
            </a:r>
            <a:r>
              <a:rPr sz="1500" b="0">
                <a:solidFill>
                  <a:srgbClr val="1F2937"/>
                </a:solidFill>
                <a:latin typeface="Calibri"/>
              </a:rPr>
              <a:t>Spreadsheets cannot serve a mobile app, dashboard or examination 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257800" cy="484632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47548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900" b="1">
                <a:solidFill>
                  <a:srgbClr val="0F2742"/>
                </a:solidFill>
                <a:latin typeface="Georgia"/>
              </a:rPr>
              <a:t>Objectives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Build a Spring Boot MVC application with controller -&gt; service -&gt; repository layering.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Persist data with JPA/Hibernate: annotated entities, full CRUD, ORM relationships and one ID strategy.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Implement five explicit HQL queries and one query through Session + Transaction.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Demonstrate JOINED inheritance, DI/ApplicationContext and AOP logging.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Expose a REST API (GET/POST/PUT/DELETE) and test it with Swagger, Postman and MockMvc.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Run a second Spring Boot service and call it over REST.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Apply DevOps: Git, Maven, CI and Docker.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working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Seven screens, one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Dashboard. </a:t>
            </a:r>
            <a:r>
              <a:rPr sz="1500" b="0">
                <a:solidFill>
                  <a:srgbClr val="1F2937"/>
                </a:solidFill>
                <a:latin typeface="Calibri"/>
              </a:rPr>
              <a:t>Totals, averages, top performers, course performance and grading-service health.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Students. </a:t>
            </a:r>
            <a:r>
              <a:rPr sz="1500" b="0">
                <a:solidFill>
                  <a:srgbClr val="1F2937"/>
                </a:solidFill>
                <a:latin typeface="Calibri"/>
              </a:rPr>
              <a:t>Search, create, edit, delete; transcript with credits, pass count and GPA.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Courses. </a:t>
            </a:r>
            <a:r>
              <a:rPr sz="1500" b="0">
                <a:solidFill>
                  <a:srgbClr val="1F2937"/>
                </a:solidFill>
                <a:latin typeface="Calibri"/>
              </a:rPr>
              <a:t>Catalogue, instructor assignment, roster, grade distribution and pass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Enrollments. </a:t>
            </a:r>
            <a:r>
              <a:rPr sz="1500" b="0">
                <a:solidFill>
                  <a:srgbClr val="1F2937"/>
                </a:solidFill>
                <a:latin typeface="Calibri"/>
              </a:rPr>
              <a:t>Enroll, record and correct marks; grades recalculate immediately.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Reports. </a:t>
            </a:r>
            <a:r>
              <a:rPr sz="1500" b="0">
                <a:solidFill>
                  <a:srgbClr val="1F2937"/>
                </a:solidFill>
                <a:latin typeface="Calibri"/>
              </a:rPr>
              <a:t>Course performance, top performers, department and grade distribution.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Diagnostics. </a:t>
            </a:r>
            <a:r>
              <a:rPr sz="1500" b="0">
                <a:solidFill>
                  <a:srgbClr val="1F2937"/>
                </a:solidFill>
                <a:latin typeface="Calibri"/>
              </a:rPr>
              <a:t>SessionFactory metadata plus HQL through an explicit Session and Transaction.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Database. </a:t>
            </a:r>
            <a:r>
              <a:rPr sz="1500" b="0">
                <a:solidFill>
                  <a:srgbClr val="1F2937"/>
                </a:solidFill>
                <a:latin typeface="Calibri"/>
              </a:rPr>
              <a:t>Live H2 console and OpenAPI/Swagger documentation.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Modular monolith + one stateless REST microservice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280160"/>
            <a:ext cx="3063240" cy="493776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481328"/>
            <a:ext cx="2651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0F2742"/>
                </a:solidFill>
                <a:latin typeface="Georgia"/>
              </a:rPr>
              <a:t>Key decisions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student-record-system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Port 8080 · MVC, REST, JPA, H2/MySQL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grading-service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Port 8081 · stateless grading rules, no database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Why split?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Grading is a pure function of marks and a scale, so it separates cleanly; the transactional academic core stays in one service.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5B6574"/>
                </a:solidFill>
                <a:latin typeface="Calibri"/>
              </a:rPr>
              <a:t>Failure path: short timeout -&gt; local fallback -&gt; graded_by records the source.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Domain model and 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Five entities, JOINED inheritance, many-to-many through an association 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1280160"/>
            <a:ext cx="3246120" cy="493776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481328"/>
            <a:ext cx="28346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0F2742"/>
                </a:solidFill>
                <a:latin typeface="Georgia"/>
              </a:rPr>
              <a:t>Mapping facts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JOINED inheritance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Person -&gt; Student / Instructor; shared columns normalised in persons.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ID strategy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@GeneratedValue(IDENTITY) on Person, Course and Enrollment.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M:N relationship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Student &lt;-&gt; Course resolved by enrollments, which also carries marks, grade, grade point, semester and provenance.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Integrity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Unique email, roll number, course code and (student_id, course_id); cascade deletes.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HQL and the Hibernate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Five aggregate queries in Spring Data + one explicit Session/Transaction query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6858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331720"/>
                <a:gridCol w="1371600"/>
                <a:gridCol w="100584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Report / feature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HQL construct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Used by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Top performers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JOIN + GROUP BY + HAVING + AVG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Reports,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Students without courses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NOT IN (subquery)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 page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Department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GROUP BY + 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Reports,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Course performance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AVG / MAX / MIN / COUNT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Enrollment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Dashboard, API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Grade distribution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GROUP BY grade + 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Enrollment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Reports,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Explicit Session demo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same HQL via openSession()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HibernateDemo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Diagnostics API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680960" y="1325880"/>
            <a:ext cx="3977639" cy="4206240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554480"/>
            <a:ext cx="3474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E8C76A"/>
                </a:solidFill>
                <a:latin typeface="Georgia"/>
              </a:rPr>
              <a:t>Session · SessionFactory · Transaction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SessionFactory  — one per datasource, holds metadata and connection settings.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Session  — short-lived unit of work with the first-level cache.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Transaction  — commit on success, rollback on failure.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HibernateDemoService opens a session, begins a transaction, runs HQL, commits and closes — exposed at /api/diagnostics.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>
                <a:solidFill>
                  <a:srgbClr val="0F2742"/>
                </a:solidFill>
                <a:latin typeface="Calibri"/>
              </a:rPr>
              <a:t>Also demonstrated: </a:t>
            </a:r>
            <a:r>
              <a:rPr sz="1250" b="0">
                <a:solidFill>
                  <a:srgbClr val="1F2937"/>
                </a:solidFill>
                <a:latin typeface="Calibri"/>
              </a:rPr>
              <a:t>constructor injection throughout · @Bean RestClient in AppConfig · @Around AOP aspect timing every service method · @EntityGraph to avoid N+1 · open-in-view disabled with DTO mapping inside the transaction.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REST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23 endpoints on :8080 + 5 on :8081, documented with OpenAPI/Swagger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5760720" cy="484632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5349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0F2742"/>
                </a:solidFill>
                <a:latin typeface="Georgia"/>
              </a:rPr>
              <a:t>Resources and methods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0F766E"/>
                </a:solidFill>
                <a:latin typeface="Consolas"/>
              </a:rPr>
              <a:t>GET  /api/students , /api/students/{id} , /api/students/{id}/transcript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F2937"/>
                </a:solidFill>
                <a:latin typeface="Consolas"/>
              </a:rPr>
              <a:t>POST /api/students        -&gt; 201 + Location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1F2937"/>
                </a:solidFill>
                <a:latin typeface="Consolas"/>
              </a:rPr>
              <a:t>PUT /api/students/{id}   -&gt; 200        DELETE -&gt; 204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5B6574"/>
                </a:solidFill>
                <a:latin typeface="Calibri"/>
              </a:rPr>
              <a:t>Courses, enrollments and reports follow the same pattern.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0F766E"/>
                </a:solidFill>
                <a:latin typeface="Consolas"/>
              </a:rPr>
              <a:t>POST /api/enrollments  -&gt; calls the grading service, persists grade + source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>
                <a:solidFill>
                  <a:srgbClr val="0F766E"/>
                </a:solidFill>
                <a:latin typeface="Consolas"/>
              </a:rPr>
              <a:t>GET /api/reports/top-performers?minAverage=75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1">
                <a:solidFill>
                  <a:srgbClr val="0F2742"/>
                </a:solidFill>
                <a:latin typeface="Georgia"/>
              </a:rPr>
              <a:t>Error contract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>
                <a:solidFill>
                  <a:srgbClr val="1F2937"/>
                </a:solidFill>
                <a:latin typeface="Calibri"/>
              </a:rPr>
              <a:t>400 validation with fieldErrors · 404 not found · 409 duplicate email / roll number / enrollment · 500 generic with server-side logging.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Calibri"/>
              </a:rPr>
              <a:t>Tested with Swagger UI, Postman/Newman and MockMvc.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Web services: REST and SOAP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Concepts and the choice made for this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REST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SOAP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Architectural style using resources and URIs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Protocol with XML Envelope, Header, Body, 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Transport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HTTP with GET/POST/PUT/DELETE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Usually HTTP POST with any action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JSON (here), also XML/HTML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XML only, WS-* 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OpenAPI/Swagger (this project)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WSDL + XSD, formally machine-readable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HTTP status codes + error body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SOAP Fault element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Performance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Lightweight, cacheable, browser-friendly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Heavier payloads and parsing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Web/mobile APIs, microservices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Enterprise/legacy, strong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Calibri"/>
                        </a:rPr>
                        <a:t>Choice here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✓ Used: 23+5 endpoints, JSON, Swagger, Postman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Not needed for a simple two-service project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F2742"/>
                </a:solidFill>
                <a:latin typeface="Calibri"/>
              </a:rPr>
              <a:t>Statelessness: </a:t>
            </a:r>
            <a:r>
              <a:rPr sz="1200" b="0">
                <a:solidFill>
                  <a:srgbClr val="1F2937"/>
                </a:solidFill>
                <a:latin typeface="Calibri"/>
              </a:rPr>
              <a:t>every request carries all information needed; idempotent GET/PUT/DELETE; POST /api/enrollments is protected by a unique constraint and returns 409.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Microservices and resilience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One extracted service — chosen where it adds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557784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Monolith. </a:t>
            </a:r>
            <a:r>
              <a:rPr sz="1500" b="0">
                <a:solidFill>
                  <a:srgbClr val="1F2937"/>
                </a:solidFill>
                <a:latin typeface="Calibri"/>
              </a:rPr>
              <a:t>One artifact, one database, local ACID transactions, simple operations.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Microservices. </a:t>
            </a:r>
            <a:r>
              <a:rPr sz="1500" b="0">
                <a:solidFill>
                  <a:srgbClr val="1F2937"/>
                </a:solidFill>
                <a:latin typeface="Calibri"/>
              </a:rPr>
              <a:t>Independent deployables, per-service data, network calls and partial failure.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This project. </a:t>
            </a:r>
            <a:r>
              <a:rPr sz="1500" b="0">
                <a:solidFill>
                  <a:srgbClr val="1F2937"/>
                </a:solidFill>
                <a:latin typeface="Calibri"/>
              </a:rPr>
              <a:t>Academic core stays modular-monolithic; only stateless grading rules are extracted.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Interaction. </a:t>
            </a:r>
            <a:r>
              <a:rPr sz="1500" b="0">
                <a:solidFill>
                  <a:srgbClr val="1F2937"/>
                </a:solidFill>
                <a:latin typeface="Calibri"/>
              </a:rPr>
              <a:t>RestClient POST /api/grade/evaluate -&gt; JSON {grade, gradePoint, passed}.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Resilience. </a:t>
            </a:r>
            <a:r>
              <a:rPr sz="1500" b="0">
                <a:solidFill>
                  <a:srgbClr val="1F2937"/>
                </a:solidFill>
                <a:latin typeface="Calibri"/>
              </a:rPr>
              <a:t>1.5 s connect / 2.5 s read timeouts; on failure the local scale is used and graded_by = local-fallback.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Observability. </a:t>
            </a:r>
            <a:r>
              <a:rPr sz="1500" b="0">
                <a:solidFill>
                  <a:srgbClr val="1F2937"/>
                </a:solidFill>
                <a:latin typeface="Calibri"/>
              </a:rPr>
              <a:t>Dashboard health card + /api/grade/health = UP.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1">
                <a:solidFill>
                  <a:srgbClr val="1F2937"/>
                </a:solidFill>
                <a:latin typeface="Calibri"/>
              </a:rPr>
              <a:t>Data ownership. </a:t>
            </a:r>
            <a:r>
              <a:rPr sz="1500" b="0">
                <a:solidFill>
                  <a:srgbClr val="1F2937"/>
                </a:solidFill>
                <a:latin typeface="Calibri"/>
              </a:rPr>
              <a:t>Grading service owns the scale; awarded grades are persisted as historical results.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5486400"/>
            <a:ext cx="5212080" cy="77724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5605272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0F2742"/>
                </a:solidFill>
                <a:latin typeface="Calibri"/>
              </a:rPr>
              <a:t>Spring Cloud next: </a:t>
            </a:r>
            <a:r>
              <a:rPr sz="1200" b="0">
                <a:solidFill>
                  <a:srgbClr val="1F2937"/>
                </a:solidFill>
                <a:latin typeface="Calibri"/>
              </a:rPr>
              <a:t>Eureka discovery · Gateway · Config Server · Resilience4j circuit breaker · Micrometer tracing.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DevOps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From a local commit to a tested artifact and a running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53949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Git + GitHub. </a:t>
            </a:r>
            <a:r>
              <a:rPr sz="1350" b="0">
                <a:solidFill>
                  <a:srgbClr val="1F2937"/>
                </a:solidFill>
                <a:latin typeface="Calibri"/>
              </a:rPr>
              <a:t>Feature commits, PR review, origin/main maintained.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Maven. </a:t>
            </a:r>
            <a:r>
              <a:rPr sz="1350" b="0">
                <a:solidFill>
                  <a:srgbClr val="1F2937"/>
                </a:solidFill>
                <a:latin typeface="Calibri"/>
              </a:rPr>
              <a:t>Multi-module reactor + Maven Wrapper (3.9.9): ./mvnw clean verify.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CI. </a:t>
            </a:r>
            <a:r>
              <a:rPr sz="1350" b="0">
                <a:solidFill>
                  <a:srgbClr val="1F2937"/>
                </a:solidFill>
                <a:latin typeface="Calibri"/>
              </a:rPr>
              <a:t>GitHub Actions on JDK 17: build, 52 tests, upload both JARs, build Docker images.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389120"/>
            <a:ext cx="53035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Docker. </a:t>
            </a:r>
            <a:r>
              <a:rPr sz="1350" b="0">
                <a:solidFill>
                  <a:srgbClr val="1F2937"/>
                </a:solidFill>
                <a:latin typeface="Calibri"/>
              </a:rPr>
              <a:t>One multi-stage Dockerfile (ARG MODULE) for both services.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Compose. </a:t>
            </a:r>
            <a:r>
              <a:rPr sz="1350" b="0">
                <a:solidFill>
                  <a:srgbClr val="1F2937"/>
                </a:solidFill>
                <a:latin typeface="Calibri"/>
              </a:rPr>
              <a:t>Health-check dependency, GRADING_SERVICE_BASE_URL=grading-service, persistent H2 volume.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350" b="1">
                <a:solidFill>
                  <a:srgbClr val="C9A227"/>
                </a:solidFill>
                <a:latin typeface="Calibri"/>
              </a:rPr>
              <a:t>•  </a:t>
            </a:r>
            <a:r>
              <a:rPr sz="1350" b="1">
                <a:solidFill>
                  <a:srgbClr val="1F2937"/>
                </a:solidFill>
                <a:latin typeface="Calibri"/>
              </a:rPr>
              <a:t>Config as code. </a:t>
            </a:r>
            <a:r>
              <a:rPr sz="1350" b="0">
                <a:solidFill>
                  <a:srgbClr val="1F2937"/>
                </a:solidFill>
                <a:latin typeface="Calibri"/>
              </a:rPr>
              <a:t>Ports, URLs and seeding come from properties/environment variables.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Testing and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52 automated tests · 34 Postman requests · 59 assertions · 0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2588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914400"/>
                <a:gridCol w="1097280"/>
              </a:tblGrid>
              <a:tr h="5094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 class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0F2742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grading-service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GradeCalculatorTest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boundaries, GPA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grading-service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GradeControllerTest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REST + validation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LocalGradeCalculatorTest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offline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main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RepositoryHqlTest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HQL + JOINED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MvcControllerIntegrationTest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pages, forms, 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main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RestApiIntegrationTest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full workflow</a:t>
                      </a:r>
                    </a:p>
                  </a:txBody>
                  <a:tcPr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7040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0F2742"/>
                </a:solidFill>
                <a:latin typeface="Calibri"/>
              </a:rPr>
              <a:t>Manual evidence: </a:t>
            </a:r>
            <a:r>
              <a:rPr sz="1250" b="0">
                <a:solidFill>
                  <a:srgbClr val="1F2937"/>
                </a:solidFill>
                <a:latin typeface="Calibri"/>
              </a:rPr>
              <a:t>docs/api-test-output.txt (real curl transcript), Postman collection + environment, Swagger screenshots, H2 console screenshots.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0F2742"/>
                </a:solidFill>
                <a:latin typeface="Calibri"/>
              </a:rPr>
              <a:t>Test profile: </a:t>
            </a:r>
            <a:r>
              <a:rPr sz="1250" b="0">
                <a:solidFill>
                  <a:srgbClr val="1F2937"/>
                </a:solidFill>
                <a:latin typeface="Calibri"/>
              </a:rPr>
              <a:t>in-memory H2, seeding off, grading service off -&gt; deterministic and fast.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5120640"/>
            <a:ext cx="3703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>
                <a:solidFill>
                  <a:srgbClr val="0F2742"/>
                </a:solidFill>
                <a:latin typeface="Calibri"/>
              </a:rPr>
              <a:t>Live database check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Calibri"/>
              </a:rPr>
              <a:t>H2 console shows the JOINED tables and a real aggregate query over the seeded 40 enrollments.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The path the viva will follow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55778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Start both services; show both health endpoints.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Dashboard: totals, top performers, service status.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Open a transcript: credits, GPA, graded-by provenance.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Create a student: submit empty form first to show validation.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Open a course: roster, grade distribution, pass rate.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Enroll and grade: watch the grade arrive from port 8081.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Reports: five HQL results + explicit Session/Transaction panel.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Swagger: execute GET /api/students/8/transcript -&gt; 200 JSON.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Stop grading-service -&gt; local fallback appears -&gt; restart.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•  </a:t>
            </a:r>
            <a:r>
              <a:rPr sz="1500" b="0">
                <a:solidFill>
                  <a:srgbClr val="1F2937"/>
                </a:solidFill>
                <a:latin typeface="Calibri"/>
              </a:rPr>
              <a:t>H2 console: persons / students / instructors / enrollments.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774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Results, 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8C76A"/>
                </a:solidFill>
                <a:latin typeface="Calibri"/>
              </a:rPr>
              <a:t>All twelve assignment objectives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9525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967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Scholaris  ·  IT23502 Web Programming mini-project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9672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5B6574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solidFill>
            <a:srgbClr val="F5F1E8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50292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0F2742"/>
                </a:solidFill>
                <a:latin typeface="Georgia"/>
              </a:rPr>
              <a:t>Delivered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Working MVC application + 23-endpoint REST API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JPA/Hibernate with JOINED inheritance and IDENTITY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Five HQL reports + Session/Transaction diagnostics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DI/ApplicationContext and AOP logging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Second Spring Boot service with REST interaction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Git, Maven, CI, Docker Compose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✓  Report (95 pages), schema, sample data, screenshots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25880"/>
            <a:ext cx="53035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55448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0F2742"/>
                </a:solidFill>
                <a:latin typeface="Georgia"/>
              </a:rPr>
              <a:t>Limitations (honest)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No authentication or role-based access.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H2 file database by default; MySQL profile is manual.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Fixed service URL — no discovery, gateway or circuit-breaker library.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No pagination, export or instructor CRUD screen.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CI builds and tests but does not deploy.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1">
                <a:solidFill>
                  <a:srgbClr val="0F2742"/>
                </a:solidFill>
                <a:latin typeface="Calibri"/>
              </a:rPr>
              <a:t>Next: </a:t>
            </a:r>
            <a:r>
              <a:rPr sz="1400" b="0">
                <a:solidFill>
                  <a:srgbClr val="1F2937"/>
                </a:solidFill>
                <a:latin typeface="Calibri"/>
              </a:rPr>
              <a:t>Spring Security roles · Flyway migrations · pagination · Resilience4j circuit breaker · Eureka/Gateway/Config · metrics and tracing · Testcontainers.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59536" y="3246120"/>
            <a:ext cx="219456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200" b="0">
                <a:solidFill>
                  <a:srgbClr val="C9A227"/>
                </a:solidFill>
                <a:latin typeface="Georgia"/>
              </a:rPr>
              <a:t>Questions &amp; discussion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00" b="0">
                <a:solidFill>
                  <a:srgbClr val="C7D5E3"/>
                </a:solidFill>
                <a:latin typeface="Calibri"/>
              </a:rPr>
              <a:t>Every claim in this deck maps to a file, screenshot, test or command in the repository.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E8C76A"/>
                </a:solidFill>
                <a:latin typeface="Calibri"/>
              </a:rPr>
              <a:t>github.com/Senthil455/Student-Record-Grading-System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Calibri"/>
              </a:rPr>
              <a:t>./mvnw clean verify   ·   ./mvnw -pl grading-service spring-boot:run   ·   ./mvnw -pl student-record-system spring-boot:run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