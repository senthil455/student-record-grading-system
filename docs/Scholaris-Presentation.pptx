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6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15400" y="777240"/>
            <a:ext cx="2148840" cy="2148840"/>
          </a:xfrm>
          <a:prstGeom prst="ellipse">
            <a:avLst/>
          </a:prstGeom>
          <a:noFill/>
          <a:ln w="1778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795528"/>
            <a:ext cx="2148840" cy="2112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C9A227"/>
                </a:solidFill>
                <a:latin typeface="Georgia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A227"/>
                </a:solidFill>
                <a:latin typeface="Calibri"/>
              </a:rPr>
              <a:t>IT23502  ·  WEB PROGRAMMING  · 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7040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Scholaris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32304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0">
                <a:solidFill>
                  <a:srgbClr val="C9A227"/>
                </a:solidFill>
                <a:latin typeface="Georgia"/>
              </a:rPr>
              <a:t>Student Record and Grading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218688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56432"/>
            <a:ext cx="6537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Spring Boot MVC application with a documented REST API and a second, independently deployed grading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6177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Senthil Raja R  ·  Mini-project, Batch 2  ·  October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715000"/>
            <a:ext cx="2148840" cy="402336"/>
          </a:xfrm>
          <a:prstGeom prst="roundRect">
            <a:avLst>
              <a:gd name="adj" fmla="val 45000"/>
            </a:avLst>
          </a:prstGeom>
          <a:solidFill>
            <a:srgbClr val="20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7332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 Spring Boot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0088" y="5715000"/>
            <a:ext cx="1920240" cy="402336"/>
          </a:xfrm>
          <a:prstGeom prst="roundRect">
            <a:avLst>
              <a:gd name="adj" fmla="val 45000"/>
            </a:avLst>
          </a:prstGeom>
          <a:solidFill>
            <a:srgbClr val="20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573328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52 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715000"/>
            <a:ext cx="1920240" cy="402336"/>
          </a:xfrm>
          <a:prstGeom prst="roundRect">
            <a:avLst>
              <a:gd name="adj" fmla="val 45000"/>
            </a:avLst>
          </a:prstGeom>
          <a:solidFill>
            <a:srgbClr val="20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573328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23 REST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What this walkthrough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767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72184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Problem &amp;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0253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79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93392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237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91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14600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Scope &amp;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403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35808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15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57016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Domain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27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78224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Database &amp; identifiers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040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99432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Implementation layers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9783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252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HQL &amp; diagnostics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65099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464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41848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REST API design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48132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4767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472184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API testing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00253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9979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993392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Grading microservice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5237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5191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514600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REST vs SOAP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0449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0403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035808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Monolith vs microservices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5661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5615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557016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Spring Cloud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08736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0827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078224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Testing &amp; quality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60857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040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599432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DevOps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129783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51252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120640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Results &amp; demonstration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565099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6464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641848"/>
            <a:ext cx="4480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Limitations &amp; conclusion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Student records are fragmented and error-prone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73152" cy="67665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074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Calibri"/>
              </a:rPr>
              <a:t>Duplicate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The same student appears in class lists, marks sheets and fee registers.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22576"/>
            <a:ext cx="73152" cy="6766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Calibri"/>
              </a:rPr>
              <a:t>Manual grade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Letter grades, points and GPA are computed by hand with different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55264"/>
            <a:ext cx="73152" cy="67665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Calibri"/>
              </a:rPr>
              <a:t>Slow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Top performers and course averages require copying data between spreadsheets.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187952"/>
            <a:ext cx="73152" cy="6766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Calibri"/>
              </a:rPr>
              <a:t>No integrity or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There is no validation, referential integrity or controlled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120640"/>
            <a:ext cx="73152" cy="67665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1149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Calibri"/>
              </a:rPr>
              <a:t>No API for other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59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A spreadsheet cannot serve a dashboard, mobile app or examination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353312"/>
            <a:ext cx="3794760" cy="4754880"/>
          </a:xfrm>
          <a:prstGeom prst="roundRect">
            <a:avLst>
              <a:gd name="adj" fmla="val 4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57276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742"/>
                </a:solidFill>
                <a:latin typeface="Georgia"/>
              </a:rPr>
              <a:t>The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011680"/>
            <a:ext cx="3154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One source of truth for people, courses and marks.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Consistent grade rules in one place.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Live HQL reports instead of manual spreadsheets.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A documented API that other systems can consume.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5230368"/>
            <a:ext cx="3200400" cy="18288"/>
          </a:xfrm>
          <a:prstGeom prst="rect">
            <a:avLst/>
          </a:prstGeom>
          <a:solidFill>
            <a:srgbClr val="D9C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53492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4"/>
                </a:solidFill>
                <a:latin typeface="Calibri"/>
              </a:rPr>
              <a:t>Batch 2 demo data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4"/>
                </a:solidFill>
                <a:latin typeface="Calibri"/>
              </a:rPr>
              <a:t>9 students · 6 courses · 40 enrollments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Twelve objectives, four tangible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4"/>
                </a:solidFill>
                <a:latin typeface="Calibri"/>
              </a:rPr>
              <a:t>The project is assessed on working evidence, not only on the use of frameworks.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10512"/>
            <a:ext cx="539496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73152" cy="19385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5681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766E"/>
                </a:solidFill>
                <a:latin typeface="Calibr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742"/>
                </a:solidFill>
                <a:latin typeface="Georgia"/>
              </a:rPr>
              <a:t>Spring Boot + MVC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33472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Server-rendered Thymeleaf UI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Constructor injection and ApplicationContext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AOP logging around service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10512"/>
            <a:ext cx="539496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10512"/>
            <a:ext cx="73152" cy="19385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5681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C9A227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7627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742"/>
                </a:solidFill>
                <a:latin typeface="Georgia"/>
              </a:rPr>
              <a:t>JPA / Hibernate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33472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C9A227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Full CRUD through repositories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C9A227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JOINED inheritance + IDENTITY keys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C9A227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Five explicit HQL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23360"/>
            <a:ext cx="539496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023360"/>
            <a:ext cx="73152" cy="19385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16966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D4E89"/>
                </a:solidFill>
                <a:latin typeface="Calibri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3891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742"/>
                </a:solidFill>
                <a:latin typeface="Georgia"/>
              </a:rPr>
              <a:t>REST + microservice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4632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GET, POST, PUT and DELETE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Grading service on port 8081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RestClient call with local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23360"/>
            <a:ext cx="539496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023360"/>
            <a:ext cx="73152" cy="193852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16966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43C3C"/>
                </a:solidFill>
                <a:latin typeface="Calibri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3891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742"/>
                </a:solidFill>
                <a:latin typeface="Georgia"/>
              </a:rPr>
              <a:t>Maven + DevOps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84632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B43C3C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Multi-module reactor and 52 tests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B43C3C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Docker Compose and GitHub Actions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B43C3C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Git history, docs and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Who uses it, and what is inside the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54864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742"/>
                </a:solidFill>
                <a:latin typeface="Calibri"/>
              </a:rPr>
              <a:t>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Students, instructors and courses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481328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481328"/>
            <a:ext cx="54864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0934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742"/>
                </a:solidFill>
                <a:latin typeface="Calibri"/>
              </a:rPr>
              <a:t>Instructor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92024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Enrollments, marks and grades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98648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898648"/>
            <a:ext cx="54864" cy="11887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742"/>
                </a:solidFill>
                <a:latin typeface="Calibri"/>
              </a:rPr>
              <a:t>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Transcript and GPA read 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8" y="2898648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47288" y="2898648"/>
            <a:ext cx="54864" cy="118872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742"/>
                </a:solidFill>
                <a:latin typeface="Calibri"/>
              </a:rPr>
              <a:t>Evaluator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3756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H2 console, API and diagnostics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80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43C3C"/>
                </a:solidFill>
                <a:latin typeface="Calibri"/>
              </a:rPr>
              <a:t>OUT OF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4"/>
                </a:solidFill>
                <a:latin typeface="Calibri"/>
              </a:rPr>
              <a:t>Authentication and roles, fee management, timetable, production hardening and a full Spring Cloud deployment.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3716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766E"/>
                </a:solidFill>
                <a:latin typeface="Calibri"/>
              </a:rPr>
              <a:t>FUNCTIONAL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691640"/>
            <a:ext cx="5257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Student CRUD, search and transcript with GPA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Instructor CRUD and department views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Course CRUD with roster and capacity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Enrollment create, edit, delete and grade evaluation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Dashboard with live grading-service health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Five HQL reports: top performers, missing enrollments, departments, course performance, grade distribution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REST API documented with OpenAPI 3.1 and Swagger UI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20" b="1">
                <a:solidFill>
                  <a:srgbClr val="0F766E"/>
                </a:solidFill>
                <a:latin typeface="Calibri"/>
              </a:rPr>
              <a:t>•  </a:t>
            </a:r>
            <a:r>
              <a:rPr sz="1120">
                <a:solidFill>
                  <a:srgbClr val="1F2937"/>
                </a:solidFill>
                <a:latin typeface="Calibri"/>
              </a:rPr>
              <a:t>Bean validation and one consistent JSON error contract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modular monolith with one focused microservice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31" y="1353312"/>
            <a:ext cx="7514617" cy="470916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275320" y="1417320"/>
            <a:ext cx="33832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41732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4533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MVC + Thymeleaf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4708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5B6574"/>
                </a:solidFill>
                <a:latin typeface="Calibri"/>
              </a:rPr>
              <a:t>Server-rendered pages for students, courses, enrollments, reports and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953512"/>
            <a:ext cx="33832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953512"/>
            <a:ext cx="64008" cy="13258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0815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JPA + Hibernate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832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5B6574"/>
                </a:solidFill>
                <a:latin typeface="Calibri"/>
              </a:rPr>
              <a:t>H2 file database locally; MySQL profile and schema scripts provided.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489704"/>
            <a:ext cx="33832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489704"/>
            <a:ext cx="64008" cy="13258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6177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REST + RestClient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1947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5B6574"/>
                </a:solidFill>
                <a:latin typeface="Calibri"/>
              </a:rPr>
              <a:t>JSON API on 8080 calls the grading service on 8081; fallback keeps marks saveable.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DOMAIN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small model with a real inheritance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4940"/>
            <a:ext cx="6903720" cy="460248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452360" y="1417320"/>
            <a:ext cx="4160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Person is abstract; Student and Instructor share identity and personal details.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InheritanceType.JOINED creates persons, students and instructors tables.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Course 1:N Enrollment and Student 1:N Enrollment form the academic core.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Enrollment owns marks, letter grade, grade point and evaluated_by.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@OneToMany, @ManyToOne, @JoinColumn and cascade rules are used deliberately.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Every surrogate key uses GenerationType.IDENTITY.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5623560"/>
            <a:ext cx="3977639" cy="402336"/>
          </a:xfrm>
          <a:prstGeom prst="roundRect">
            <a:avLst>
              <a:gd name="adj" fmla="val 45000"/>
            </a:avLst>
          </a:prstGeom>
          <a:solidFill>
            <a:srgbClr val="16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5641848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@Inheritance(strategy = JOINED)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Five tables, clean keys and repeatable sample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6126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640080"/>
                <a:gridCol w="4069080"/>
              </a:tblGrid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45720" marB="45720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73152" marR="73152" marT="45720" marB="45720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45720" marB="45720">
                    <a:solidFill>
                      <a:srgbClr val="0F274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persons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Shared identity for students and instructors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students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Roll number, department, admission year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instructors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Employee number, department, designation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courses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Code, title, credits, capacity, instructor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enrollments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Marks, grade, grade point and evaluation source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52628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636008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129784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enrollments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8" y="452628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636008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766E"/>
                </a:solidFill>
                <a:latin typeface="Georg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129784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452628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4636008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78.7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5129784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average 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17320"/>
            <a:ext cx="4663440" cy="324612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58191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FB3C8"/>
                </a:solidFill>
                <a:latin typeface="Calibri"/>
              </a:rPr>
              <a:t>Person.java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01952"/>
            <a:ext cx="4160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@Entity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@Inheritance(strategy = JOINED)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public abstract class Person {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  @Id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  @GeneratedValue(strategy = IDENTITY)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  private Long id;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  private String firstName, lastName;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  private String email;</a:t>
            </a:r>
          </a:p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4133087"/>
            <a:ext cx="4160520" cy="13716"/>
          </a:xfrm>
          <a:prstGeom prst="rect">
            <a:avLst/>
          </a:prstGeom>
          <a:solidFill>
            <a:srgbClr val="3B5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24281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FB3C8"/>
                </a:solidFill>
                <a:latin typeface="Calibri"/>
              </a:rPr>
              <a:t>IDENTITY → database-generated, compact surrogate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8463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574"/>
                </a:solidFill>
                <a:latin typeface="Calibri"/>
              </a:rPr>
              <a:t>H2 file database for the demo; a MySQL profile and database/schema.sql are included for portability.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Controller → service → repository, with AOP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qu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" y="1335024"/>
            <a:ext cx="6934200" cy="416052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18120" y="1417320"/>
            <a:ext cx="37947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417320"/>
            <a:ext cx="64008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5270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Web /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013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Thymeleaf controllers and @RestController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468880"/>
            <a:ext cx="37947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468880"/>
            <a:ext cx="64008" cy="89611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57860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5292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@Transactional business rules and grade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520439"/>
            <a:ext cx="37947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520439"/>
            <a:ext cx="64008" cy="89611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63016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904487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Spring Data JPA plus explicit HQL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572000"/>
            <a:ext cx="37947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4572000"/>
            <a:ext cx="64008" cy="896112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68172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2742"/>
                </a:solidFill>
                <a:latin typeface="Calibri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9560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Entities, relationships, validation and inheritance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5687568"/>
            <a:ext cx="3749039" cy="384048"/>
          </a:xfrm>
          <a:prstGeom prst="roundRect">
            <a:avLst>
              <a:gd name="adj" fmla="val 45000"/>
            </a:avLst>
          </a:prstGeom>
          <a:solidFill>
            <a:srgbClr val="16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5705855"/>
            <a:ext cx="374903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LoggingAspect around every service method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DATA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Five HQL reports plus an observable Hibernate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Top performers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1790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Average mark ≥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76856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76856"/>
            <a:ext cx="64008" cy="7132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Students without enrollments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LEFT JOIN / null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36391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136391"/>
            <a:ext cx="64008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36975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Department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36975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COUNT and GROUP BY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95928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995928"/>
            <a:ext cx="64008" cy="7132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Course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96512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AVG, MAX and MIN per course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855464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55464"/>
            <a:ext cx="64008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560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Grade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956048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0" i="0">
                <a:solidFill>
                  <a:srgbClr val="5B6574"/>
                </a:solidFill>
                <a:latin typeface="Calibri"/>
              </a:rPr>
              <a:t>COUNT by letter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5727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FB3C8"/>
                </a:solidFill>
                <a:latin typeface="Calibri"/>
              </a:rPr>
              <a:t>HibernateDemoService.java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19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Session session = sessionFactory.openSession();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Transaction tx = session.beginTransaction();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List&lt;Student&gt; top = session.createQuery(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    "select s from Student s ...", Student.class)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    .setParameter("min", minAverage)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    .getResultList();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tx.commit();</a:t>
            </a:r>
          </a:p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E6EDF3"/>
                </a:solidFill>
                <a:latin typeface="Consolas"/>
              </a:rPr>
              <a:t>session.close();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160520"/>
            <a:ext cx="4754880" cy="13716"/>
          </a:xfrm>
          <a:prstGeom prst="rect">
            <a:avLst/>
          </a:prstGeom>
          <a:solidFill>
            <a:srgbClr val="3B5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793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FB3C8"/>
                </a:solidFill>
                <a:latin typeface="Calibri"/>
              </a:rPr>
              <a:t>openSession → beginTransaction → HQL → commit →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74920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/api/diagnostics/session-factory and /hibernate/top-performers expose the SessionFactory, Session and Transaction at runtime.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documented contract over the same business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61264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011680"/>
                <a:gridCol w="2697480"/>
              </a:tblGrid>
              <a:tr h="4495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T="45720" marB="45720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Methods</a:t>
                      </a:r>
                    </a:p>
                  </a:txBody>
                  <a:tcPr marL="73152" marT="45720" marB="45720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Base path</a:t>
                      </a:r>
                    </a:p>
                  </a:txBody>
                  <a:tcPr marL="73152" marT="45720" marB="45720">
                    <a:solidFill>
                      <a:srgbClr val="0F274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Students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GET · POST · PUT · DELETE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/api/students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Courses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GET · POST · PUT · DELETE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/api/courses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Enrollments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GET · POST · PUT · DELETE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/api/enrollments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/api/reports/*</a:t>
                      </a:r>
                    </a:p>
                  </a:txBody>
                  <a:tcPr marL="73152" marT="36576" marB="36576">
                    <a:solidFill>
                      <a:srgbClr val="F4F6F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Diagnostics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F2937"/>
                          </a:solidFill>
                          <a:latin typeface="Calibri"/>
                        </a:rPr>
                        <a:t>/api/diagnostics/*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315968"/>
            <a:ext cx="2377440" cy="384048"/>
          </a:xfrm>
          <a:prstGeom prst="roundRect">
            <a:avLst>
              <a:gd name="adj" fmla="val 4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34255"/>
            <a:ext cx="23774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OpenAPI 3.1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315968"/>
            <a:ext cx="2377440" cy="384048"/>
          </a:xfrm>
          <a:prstGeom prst="roundRect">
            <a:avLst>
              <a:gd name="adj" fmla="val 45000"/>
            </a:avLst>
          </a:prstGeom>
          <a:solidFill>
            <a:srgbClr val="16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334255"/>
            <a:ext cx="23774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Swagger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4632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574"/>
                </a:solidFill>
                <a:latin typeface="Calibri"/>
              </a:rPr>
              <a:t>23 main-app endpoints and 5 grading-service endpoints. Consistent status codes, bean validation and a single JSON error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31736" y="1308608"/>
            <a:ext cx="4681728" cy="493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-swagger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63472"/>
            <a:ext cx="4572000" cy="482600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The contract is exercised, not just described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783080" cy="111556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453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20824"/>
            <a:ext cx="14538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Postman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1783080" cy="111556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527048"/>
            <a:ext cx="1453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766E"/>
                </a:solidFill>
                <a:latin typeface="Georgia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020824"/>
            <a:ext cx="14538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assertions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1783080" cy="111556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527048"/>
            <a:ext cx="1453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E7D32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020824"/>
            <a:ext cx="14538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Swagger UI executes every endpoint against the running application.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Postman collection + environment reproduced with Newman.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MockMvc and REST integration tests cover happy paths and failures.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1F2937"/>
                </a:solidFill>
                <a:latin typeface="Calibri"/>
              </a:rPr>
              <a:t>52 automated tests: 29 in the main app, 23 in the grading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37160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361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6574"/>
                </a:solidFill>
                <a:latin typeface="Calibri"/>
              </a:rPr>
              <a:t>NEWMAN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19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742"/>
                </a:solidFill>
                <a:latin typeface="Georgia"/>
              </a:rPr>
              <a:t>0 failed · 59 assertions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4"/>
                </a:solidFill>
                <a:latin typeface="Calibri"/>
              </a:rPr>
              <a:t>34 requests across 8 folders</a:t>
            </a:r>
          </a:p>
        </p:txBody>
      </p:sp>
      <p:pic>
        <p:nvPicPr>
          <p:cNvPr id="20" name="Picture 19" descr="swagger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66060"/>
            <a:ext cx="4937760" cy="3236976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21" name="Rectangle 20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second service, called over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21488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73351"/>
            <a:ext cx="1929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Main app :8080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1929384" cy="53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EnrollmentService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marks + credits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08760"/>
            <a:ext cx="2331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508760"/>
            <a:ext cx="2331720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673351"/>
            <a:ext cx="21122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RestClient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965960"/>
            <a:ext cx="2112263" cy="53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POST /api/grade/evaluate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2 s timeout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508760"/>
            <a:ext cx="21488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1508760"/>
            <a:ext cx="2148840" cy="640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1673351"/>
            <a:ext cx="1929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Grading :8081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1965960"/>
            <a:ext cx="1929384" cy="539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Stateless grade rules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574"/>
                </a:solidFill>
                <a:latin typeface="Calibri"/>
              </a:rPr>
              <a:t>grade + grade point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43200" y="1920240"/>
            <a:ext cx="310896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394960" y="1920240"/>
            <a:ext cx="310896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2743200" y="2852928"/>
            <a:ext cx="5074920" cy="0"/>
          </a:xfrm>
          <a:prstGeom prst="line">
            <a:avLst/>
          </a:prstGeom>
          <a:ln w="17780">
            <a:solidFill>
              <a:srgbClr val="0F766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303580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GradeResponse (JSON)  ·  grade, grade point, pass flag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66160"/>
            <a:ext cx="3474720" cy="1325880"/>
          </a:xfrm>
          <a:prstGeom prst="roundRect">
            <a:avLst>
              <a:gd name="adj" fmla="val 5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0332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742"/>
                </a:solidFill>
                <a:latin typeface="Calibri"/>
              </a:rPr>
              <a:t>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05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574"/>
                </a:solidFill>
                <a:latin typeface="Calibri"/>
              </a:rPr>
              <a:t>If the service is unavailable, LocalGradeCalculator computes the result and evaluated_by records the fallback.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566160"/>
            <a:ext cx="347472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70332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742"/>
                </a:solidFill>
                <a:latin typeface="Calibri"/>
              </a:rPr>
              <a:t>Independent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05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574"/>
                </a:solidFill>
                <a:latin typeface="Calibri"/>
              </a:rPr>
              <a:t>The grading service has its own port, POM, tests, JAR and Docker image. No shared database.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46136" y="1933448"/>
            <a:ext cx="3767328" cy="2991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wagger-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88312"/>
            <a:ext cx="3657600" cy="2881376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94360" y="5166360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B6574"/>
                </a:solidFill>
                <a:latin typeface="Calibri"/>
              </a:rPr>
              <a:t>The same request/response DTO contract is exercised by unit tests and the main application's integration tests.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WEB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REST vs SOAP: the trade-offs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846320"/>
              </a:tblGrid>
              <a:tr h="4800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T="54864" marB="54864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REST</a:t>
                      </a:r>
                    </a:p>
                  </a:txBody>
                  <a:tcPr marL="91440" marT="54864" marB="54864"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SOAP</a:t>
                      </a:r>
                    </a:p>
                  </a:txBody>
                  <a:tcPr marL="91440" marT="54864" marB="54864">
                    <a:solidFill>
                      <a:srgbClr val="0F274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Resource-oriented; HTTP verbs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Operation-oriented; RPC style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HTTP/HTTPS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HTTP, SMTP, JMS and others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JSON or XML; typically JSON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XML envelope with headers and body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OpenAPI / JSON Schema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WSDL + XSD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Caching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Native HTTP caching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Limited; needs infrastructure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Coupling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Loose; evolvable representations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Tighter; strict contract and tooling</a:t>
                      </a:r>
                    </a:p>
                  </a:txBody>
                  <a:tcPr marL="91440" marT="45720" marB="45720">
                    <a:solidFill>
                      <a:srgbClr val="F4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Project use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Chosen for both services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Explained and compared, not used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486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5B6574"/>
                </a:solidFill>
                <a:latin typeface="Calibri"/>
              </a:rPr>
              <a:t>REST fits this project because the domain is resource-oriented and the browser, Swagger and Postman all speak JSON. SOAP remains a good fit where formal WS-* contracts and transactions are mandatory.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ARCHITECTURE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Monolith, microservices and Spring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727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Georgia"/>
              </a:rPr>
              <a:t>Monolithic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3852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One deployment and one transaction boundary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Simple joins across students, courses and enrollments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Lower operational cost for a small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237744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727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742"/>
                </a:solidFill>
                <a:latin typeface="Georgia"/>
              </a:rPr>
              <a:t>Microservice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3852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Independent deployment and scaling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Clear bounded context for grading rules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Network calls add latency and failure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C9A227"/>
                </a:solidFill>
                <a:latin typeface="Calibri"/>
              </a:rPr>
              <a:t>SPRING CLOUD — WHAT IT ADDS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80560"/>
            <a:ext cx="2560320" cy="713232"/>
          </a:xfrm>
          <a:prstGeom prst="roundRect">
            <a:avLst>
              <a:gd name="adj" fmla="val 6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57200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280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Centralised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480560"/>
            <a:ext cx="2560320" cy="713232"/>
          </a:xfrm>
          <a:prstGeom prst="roundRect">
            <a:avLst>
              <a:gd name="adj" fmla="val 6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457200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Eureka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48280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Service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49240"/>
            <a:ext cx="2560320" cy="713232"/>
          </a:xfrm>
          <a:prstGeom prst="roundRect">
            <a:avLst>
              <a:gd name="adj" fmla="val 6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44068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56967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Routing and cross-cutting edge concerns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5349240"/>
            <a:ext cx="2560320" cy="713232"/>
          </a:xfrm>
          <a:prstGeom prst="roundRect">
            <a:avLst>
              <a:gd name="adj" fmla="val 6000"/>
            </a:avLst>
          </a:prstGeom>
          <a:solidFill>
            <a:srgbClr val="F8F4E8"/>
          </a:solidFill>
          <a:ln w="1016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544068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2742"/>
                </a:solidFill>
                <a:latin typeface="Calibri"/>
              </a:rPr>
              <a:t>Resilience4j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56967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Circuit breakers and retries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4"/>
                </a:solidFill>
                <a:latin typeface="Calibri"/>
              </a:rPr>
              <a:t>At this scale Spring Cloud would add infrastructure without improving the demonstration. The project instead shows the real boundary: an HTTP contract, a timeout and a fallback.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806440"/>
            <a:ext cx="5074920" cy="384048"/>
          </a:xfrm>
          <a:prstGeom prst="roundRect">
            <a:avLst>
              <a:gd name="adj" fmla="val 45000"/>
            </a:avLst>
          </a:prstGeom>
          <a:solidFill>
            <a:srgbClr val="16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824727"/>
            <a:ext cx="507492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RestClient + fallback is the honest first step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52 automated tests and a repeatable verification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240280" cy="1234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20824"/>
            <a:ext cx="19110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2240280" cy="1234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52704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766E"/>
                </a:solidFill>
                <a:latin typeface="Georgia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020824"/>
            <a:ext cx="19110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main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417320"/>
            <a:ext cx="2240280" cy="1234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152704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D4E89"/>
                </a:solidFill>
                <a:latin typeface="Georgia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2020824"/>
            <a:ext cx="19110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grading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6324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3580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358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5B6574"/>
                </a:solidFill>
                <a:latin typeface="Calibri"/>
              </a:rPr>
              <a:t>Grade boundaries, GPA, fallback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01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MVC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63016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5B6574"/>
                </a:solidFill>
                <a:latin typeface="Calibri"/>
              </a:rPr>
              <a:t>MockMvc page rendering, forms,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2452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2452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5B6574"/>
                </a:solidFill>
                <a:latin typeface="Calibri"/>
              </a:rPr>
              <a:t>JSON status codes and error contract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84632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1888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188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5B6574"/>
                </a:solidFill>
                <a:latin typeface="Calibri"/>
              </a:rPr>
              <a:t>HQL repositories and JOINED inheritance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44068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1324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0F2742"/>
                </a:solidFill>
                <a:latin typeface="Calibri"/>
              </a:rPr>
              <a:t>End-to-end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41324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5B6574"/>
                </a:solidFill>
                <a:latin typeface="Calibri"/>
              </a:rPr>
              <a:t>Postman/Newman against running services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600200"/>
            <a:ext cx="1645920" cy="77724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847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Manual / Postman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38260" y="2624328"/>
            <a:ext cx="224028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38260" y="287121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8220" y="3648456"/>
            <a:ext cx="2880360" cy="777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8220" y="389534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MVC + repository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672584"/>
            <a:ext cx="3657600" cy="77724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9194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8064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Test confidence grows downwards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repeatable path from commit to running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vop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6840"/>
            <a:ext cx="11155680" cy="371856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94360" y="5349240"/>
            <a:ext cx="2615184" cy="74980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544068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2742"/>
                </a:solidFill>
                <a:latin typeface="Calibri"/>
              </a:rPr>
              <a:t>Git 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56967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branch, review,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5349240"/>
            <a:ext cx="2615184" cy="74980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544068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2742"/>
                </a:solidFill>
                <a:latin typeface="Calibri"/>
              </a:rPr>
              <a:t>Maven Wrapper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56967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./mvnw clean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5349240"/>
            <a:ext cx="2615184" cy="74980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544068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2742"/>
                </a:solidFill>
                <a:latin typeface="Calibri"/>
              </a:rP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56967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build + test on push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5349240"/>
            <a:ext cx="2615184" cy="74980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44068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2742"/>
                </a:solidFill>
                <a:latin typeface="Calibri"/>
              </a:rPr>
              <a:t>Docker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6967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B6574"/>
                </a:solidFill>
                <a:latin typeface="Calibri"/>
              </a:rPr>
              <a:t>two services, one 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A working application with evidence behind every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240280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20824"/>
            <a:ext cx="1911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2240280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52704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766E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020824"/>
            <a:ext cx="1911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courses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51760"/>
            <a:ext cx="2240280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76148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2742"/>
                </a:solidFill>
                <a:latin typeface="Georgia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55264"/>
            <a:ext cx="1911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enrollments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651760"/>
            <a:ext cx="2240280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2761488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766E"/>
                </a:solidFill>
                <a:latin typeface="Georgia"/>
              </a:rPr>
              <a:t>78.7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255264"/>
            <a:ext cx="1911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4"/>
                </a:solidFill>
                <a:latin typeface="Calibri"/>
              </a:rPr>
              <a:t>average 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69080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Dashboard reports live grading-service health.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Five HQL reports produce rankings, distributions and course averages.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CRUD, validation and friendly error pages are demonstrated end to end.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Calibri"/>
              </a:rPr>
              <a:t>•  </a:t>
            </a:r>
            <a:r>
              <a:rPr sz="1050">
                <a:solidFill>
                  <a:srgbClr val="1F2937"/>
                </a:solidFill>
                <a:latin typeface="Calibri"/>
              </a:rPr>
              <a:t>H2 console and diagnostics make the persistence layer observable.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1493" y="1316736"/>
            <a:ext cx="4679333" cy="4956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357" y="1371600"/>
            <a:ext cx="4569605" cy="4846320"/>
          </a:xfrm>
          <a:prstGeom prst="rect">
            <a:avLst/>
          </a:prstGeom>
          <a:ln w="10160">
            <a:solidFill>
              <a:srgbClr val="CBD5E1"/>
            </a:solidFill>
          </a:ln>
        </p:spPr>
      </p:pic>
      <p:sp>
        <p:nvSpPr>
          <p:cNvPr id="21" name="Rectangle 20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742"/>
                </a:solidFill>
                <a:latin typeface="Georgia"/>
              </a:rPr>
              <a:t>Delivered, demonstrated and ready to extend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216152"/>
            <a:ext cx="9966960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00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766E"/>
                </a:solidFill>
                <a:latin typeface="Calibri"/>
              </a:rP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6596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0F766E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Spring Boot MVC application with a full academic workflow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0F766E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JPA/Hibernate model with JOINED inheritance and IDENTITY keys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0F766E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REST API, Swagger documentation and a grading microservice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0F766E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AOP logging, constructor injection and diagnostics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00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C9A227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6596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C9A227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52 automated tests with zero failures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C9A227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34 Postman requests and 59 assertions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C9A227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9 students, 6 courses and 40 seeded enrollments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C9A227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A complete report, schema, diagrams and demo 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2044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520440" cy="7315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00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D4E89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6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1D4E89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Authentication, roles and audit trails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1D4E89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Pagination, search and production database tuning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1D4E89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Spring Cloud Config, discovery and resilience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80" b="1">
                <a:solidFill>
                  <a:srgbClr val="1D4E89"/>
                </a:solidFill>
                <a:latin typeface="Calibri"/>
              </a:rPr>
              <a:t>•  </a:t>
            </a:r>
            <a:r>
              <a:rPr sz="980">
                <a:solidFill>
                  <a:srgbClr val="1F2937"/>
                </a:solidFill>
                <a:latin typeface="Calibri"/>
              </a:rPr>
              <a:t>Observability and a full CI/CD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138928"/>
            <a:ext cx="11000232" cy="1051560"/>
          </a:xfrm>
          <a:prstGeom prst="roundRect">
            <a:avLst>
              <a:gd name="adj" fmla="val 4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8523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Thank you —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6967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9A227"/>
                </a:solidFill>
                <a:latin typeface="Calibri"/>
              </a:rPr>
              <a:t>github.com/Senthil455/Student-Record-Grading-System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440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Calibri"/>
              </a:rPr>
              <a:t>IT23502 · Web Programming</a:t>
            </a:r>
          </a:p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Calibri"/>
              </a:rPr>
              <a:t>Mini-project, Batch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92240"/>
            <a:ext cx="11000232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Scholaris  ·  Student Record and Grading System  ·  IT23502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471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B6574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Scholaris — Student Record and Grading System</dc:title>
  <dc:subject>IT23502 Web Programming Mini-Project</dc:subject>
  <dc:creator>Senthil Raja R</dc:creator>
  <cp:keywords>Spring Boot, JPA, Hibernate, REST, microservices, DevOps</cp:keywords>
  <dc:description>Demo deck generated from the project report and live screenshots.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